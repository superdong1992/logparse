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rule"/>
          <p:cNvSpPr>
            <a:spLocks noGrp="1"/>
          </p:cNvSpPr>
          <p:nvPr/>
        </p:nvSpPr>
        <p:spPr>
          <a:xfrm>
            <a:off x="390525" y="1381125"/>
            <a:ext cx="1140142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" name="col-panel-01"/>
          <p:cNvSpPr>
            <a:spLocks noGrp="1"/>
          </p:cNvSpPr>
          <p:nvPr/>
        </p:nvSpPr>
        <p:spPr>
          <a:xfrm>
            <a:off x="390525" y="2028825"/>
            <a:ext cx="3571875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" name="col-panel-02"/>
          <p:cNvSpPr>
            <a:spLocks noGrp="1"/>
          </p:cNvSpPr>
          <p:nvPr/>
        </p:nvSpPr>
        <p:spPr>
          <a:xfrm>
            <a:off x="4314825" y="2028825"/>
            <a:ext cx="3571875" cy="3333750"/>
          </a:xfrm>
          <a:prstGeom prst="rect">
            <a:avLst/>
          </a:prstGeom>
          <a:solidFill>
            <a:srgbClr val="F4F4F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col-panel-03"/>
          <p:cNvSpPr>
            <a:spLocks noGrp="1"/>
          </p:cNvSpPr>
          <p:nvPr/>
        </p:nvSpPr>
        <p:spPr>
          <a:xfrm>
            <a:off x="8229600" y="2028825"/>
            <a:ext cx="3571875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flow-band"/>
          <p:cNvSpPr>
            <a:spLocks noGrp="1"/>
          </p:cNvSpPr>
          <p:nvPr/>
        </p:nvSpPr>
        <p:spPr>
          <a:xfrm>
            <a:off x="390525" y="5676900"/>
            <a:ext cx="11401425" cy="685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slide-title"/>
          <p:cNvSpPr>
            <a:spLocks noGrp="1"/>
          </p:cNvSpPr>
          <p:nvPr/>
        </p:nvSpPr>
        <p:spPr>
          <a:xfrm>
            <a:off x="390525" y="342900"/>
            <a:ext cx="11401425" cy="9144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buNone/>
              <a:defRPr sz="315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问题定位框架把交互、解析和诊断分成三</a:t>
            </a:r>
            <a:r>
              <a:rPr lang="en-US" sz="315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	</a:t>
            </a:r>
            <a:r>
              <a:rPr sz="315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层</a:t>
            </a:r>
            <a:endParaRPr sz="315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col-label-01"/>
          <p:cNvSpPr>
            <a:spLocks noGrp="1"/>
          </p:cNvSpPr>
          <p:nvPr/>
        </p:nvSpPr>
        <p:spPr>
          <a:xfrm>
            <a:off x="657225" y="23050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 fontScale="69444"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500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ol-title-01"/>
          <p:cNvSpPr>
            <a:spLocks noGrp="1"/>
          </p:cNvSpPr>
          <p:nvPr/>
        </p:nvSpPr>
        <p:spPr>
          <a:xfrm>
            <a:off x="657225" y="2686050"/>
            <a:ext cx="295275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buNone/>
              <a:defRPr sz="21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issue-locator</a:t>
            </a:r>
            <a:endParaRPr sz="21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col-subtitle-01"/>
          <p:cNvSpPr>
            <a:spLocks noGrp="1"/>
          </p:cNvSpPr>
          <p:nvPr/>
        </p:nvSpPr>
        <p:spPr>
          <a:xfrm>
            <a:off x="657225" y="3124200"/>
            <a:ext cx="29527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任务与交互编排层</a:t>
            </a:r>
            <a:endParaRPr sz="14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col-body-01"/>
          <p:cNvSpPr>
            <a:spLocks noGrp="1"/>
          </p:cNvSpPr>
          <p:nvPr/>
        </p:nvSpPr>
        <p:spPr>
          <a:xfrm>
            <a:off x="657225" y="3648075"/>
            <a:ext cx="2952750" cy="13335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收集日志、问题时间和目标进程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 prompt 与 diagnosis_request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拉起 Claude 并校验 result.zip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col-label-02"/>
          <p:cNvSpPr>
            <a:spLocks noGrp="1"/>
          </p:cNvSpPr>
          <p:nvPr/>
        </p:nvSpPr>
        <p:spPr>
          <a:xfrm>
            <a:off x="4581525" y="23050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 fontScale="69444"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5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col-title-02"/>
          <p:cNvSpPr>
            <a:spLocks noGrp="1"/>
          </p:cNvSpPr>
          <p:nvPr/>
        </p:nvSpPr>
        <p:spPr>
          <a:xfrm>
            <a:off x="4581525" y="2686050"/>
            <a:ext cx="295275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buNone/>
              <a:defRPr sz="21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logparse</a:t>
            </a:r>
            <a:endParaRPr sz="21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col-subtitle-02"/>
          <p:cNvSpPr>
            <a:spLocks noGrp="1"/>
          </p:cNvSpPr>
          <p:nvPr/>
        </p:nvSpPr>
        <p:spPr>
          <a:xfrm>
            <a:off x="4581525" y="3124200"/>
            <a:ext cx="29527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确定性解析与查询层</a:t>
            </a:r>
            <a:endParaRPr sz="14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col-body-02"/>
          <p:cNvSpPr>
            <a:spLocks noGrp="1"/>
          </p:cNvSpPr>
          <p:nvPr/>
        </p:nvSpPr>
        <p:spPr>
          <a:xfrm>
            <a:off x="4581525" y="3648075"/>
            <a:ext cx="2952750" cy="1333500"/>
          </a:xfrm>
          <a:prstGeom prst="rect">
            <a:avLst/>
          </a:prstGeom>
        </p:spPr>
        <p:txBody>
          <a:bodyPr spcFirstLastPara="1" lIns="0" tIns="0" rIns="0" bIns="0" anchor="t">
            <a:normAutofit fontScale="90712"/>
          </a:bodyPr>
          <a:lstStyle/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解析日志包，生成 result.json 与 metadata.json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 V3 生命周期组织 mech_modules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通过 mech-target-logs 定位目标日志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col-label-03"/>
          <p:cNvSpPr>
            <a:spLocks noGrp="1"/>
          </p:cNvSpPr>
          <p:nvPr/>
        </p:nvSpPr>
        <p:spPr>
          <a:xfrm>
            <a:off x="8496300" y="2305050"/>
            <a:ext cx="685800" cy="266700"/>
          </a:xfrm>
          <a:prstGeom prst="rect">
            <a:avLst/>
          </a:prstGeom>
        </p:spPr>
        <p:txBody>
          <a:bodyPr spcFirstLastPara="1" lIns="0" tIns="0" rIns="0" bIns="0" anchor="t">
            <a:normAutofit fontScale="69444"/>
          </a:bodyPr>
          <a:lstStyle/>
          <a:p>
            <a:pPr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500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col-title-03"/>
          <p:cNvSpPr>
            <a:spLocks noGrp="1"/>
          </p:cNvSpPr>
          <p:nvPr/>
        </p:nvSpPr>
        <p:spPr>
          <a:xfrm>
            <a:off x="8496300" y="2686050"/>
            <a:ext cx="2952750" cy="4000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buNone/>
              <a:defRPr sz="21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skills</a:t>
            </a:r>
            <a:endParaRPr sz="21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col-subtitle-03"/>
          <p:cNvSpPr>
            <a:spLocks noGrp="1"/>
          </p:cNvSpPr>
          <p:nvPr/>
        </p:nvSpPr>
        <p:spPr>
          <a:xfrm>
            <a:off x="8496300" y="3124200"/>
            <a:ext cx="295275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450"/>
              </a:spcAft>
              <a:buNone/>
              <a:defRPr sz="14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证据收敛与业务判断层</a:t>
            </a:r>
            <a:endParaRPr sz="14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col-body-03"/>
          <p:cNvSpPr>
            <a:spLocks noGrp="1"/>
          </p:cNvSpPr>
          <p:nvPr/>
        </p:nvSpPr>
        <p:spPr>
          <a:xfrm>
            <a:off x="8496300" y="3648075"/>
            <a:ext cx="2952750" cy="13335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logparse-diagnose 返回 target_logs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diagnose-* 只读指定 log_path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8000"/>
              </a:lnSpc>
              <a:spcAft>
                <a:spcPts val="47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按业务规则生成中文结论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flow-1"/>
          <p:cNvSpPr>
            <a:spLocks noGrp="1"/>
          </p:cNvSpPr>
          <p:nvPr/>
        </p:nvSpPr>
        <p:spPr>
          <a:xfrm>
            <a:off x="619125" y="5905500"/>
            <a:ext cx="160020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上传日志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flow-arrow-1"/>
          <p:cNvSpPr>
            <a:spLocks noGrp="1"/>
          </p:cNvSpPr>
          <p:nvPr/>
        </p:nvSpPr>
        <p:spPr>
          <a:xfrm>
            <a:off x="2276475" y="5876925"/>
            <a:ext cx="400050" cy="342900"/>
          </a:xfrm>
          <a:prstGeom prst="rect">
            <a:avLst/>
          </a:prstGeom>
        </p:spPr>
        <p:txBody>
          <a:bodyPr spcFirstLastPara="1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0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flow-2"/>
          <p:cNvSpPr>
            <a:spLocks noGrp="1"/>
          </p:cNvSpPr>
          <p:nvPr/>
        </p:nvSpPr>
        <p:spPr>
          <a:xfrm>
            <a:off x="2771775" y="5905500"/>
            <a:ext cx="160020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 prompt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flow-arrow-2"/>
          <p:cNvSpPr>
            <a:spLocks noGrp="1"/>
          </p:cNvSpPr>
          <p:nvPr/>
        </p:nvSpPr>
        <p:spPr>
          <a:xfrm>
            <a:off x="4429125" y="5876925"/>
            <a:ext cx="400050" cy="342900"/>
          </a:xfrm>
          <a:prstGeom prst="rect">
            <a:avLst/>
          </a:prstGeom>
        </p:spPr>
        <p:txBody>
          <a:bodyPr spcFirstLastPara="1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0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flow-3"/>
          <p:cNvSpPr>
            <a:spLocks noGrp="1"/>
          </p:cNvSpPr>
          <p:nvPr/>
        </p:nvSpPr>
        <p:spPr>
          <a:xfrm>
            <a:off x="4924425" y="5905500"/>
            <a:ext cx="1600200" cy="304800"/>
          </a:xfrm>
          <a:prstGeom prst="rect">
            <a:avLst/>
          </a:prstGeom>
        </p:spPr>
        <p:txBody>
          <a:bodyPr spcFirstLastPara="1" lIns="0" tIns="0" rIns="0" bIns="0" anchor="t">
            <a:normAutofit fontScale="75562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logparse-diagnose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flow-arrow-3"/>
          <p:cNvSpPr>
            <a:spLocks noGrp="1"/>
          </p:cNvSpPr>
          <p:nvPr/>
        </p:nvSpPr>
        <p:spPr>
          <a:xfrm>
            <a:off x="6581775" y="5876925"/>
            <a:ext cx="400050" cy="342900"/>
          </a:xfrm>
          <a:prstGeom prst="rect">
            <a:avLst/>
          </a:prstGeom>
        </p:spPr>
        <p:txBody>
          <a:bodyPr spcFirstLastPara="1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0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flow-4"/>
          <p:cNvSpPr>
            <a:spLocks noGrp="1"/>
          </p:cNvSpPr>
          <p:nvPr/>
        </p:nvSpPr>
        <p:spPr>
          <a:xfrm>
            <a:off x="7077075" y="5905500"/>
            <a:ext cx="1600200" cy="3048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返回 target_logs</a:t>
            </a:r>
            <a:endParaRPr sz="1575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flow-arrow-4"/>
          <p:cNvSpPr>
            <a:spLocks noGrp="1"/>
          </p:cNvSpPr>
          <p:nvPr/>
        </p:nvSpPr>
        <p:spPr>
          <a:xfrm>
            <a:off x="8734425" y="5876925"/>
            <a:ext cx="400050" cy="342900"/>
          </a:xfrm>
          <a:prstGeom prst="rect">
            <a:avLst/>
          </a:prstGeom>
        </p:spPr>
        <p:txBody>
          <a:bodyPr spcFirstLastPara="1" lIns="0" tIns="0" rIns="0" bIns="0" anchor="t">
            <a:normAutofit fontScale="99206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0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flow-5"/>
          <p:cNvSpPr>
            <a:spLocks noGrp="1"/>
          </p:cNvSpPr>
          <p:nvPr/>
        </p:nvSpPr>
        <p:spPr>
          <a:xfrm>
            <a:off x="9229725" y="5905500"/>
            <a:ext cx="1600200" cy="304800"/>
          </a:xfrm>
          <a:prstGeom prst="rect">
            <a:avLst/>
          </a:prstGeom>
        </p:spPr>
        <p:txBody>
          <a:bodyPr spcFirstLastPara="1" lIns="0" tIns="0" rIns="0" bIns="0" anchor="t">
            <a:normAutofit fontScale="71652"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 result.zip / result.txt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page-1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1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rule"/>
          <p:cNvSpPr>
            <a:spLocks noGrp="1"/>
          </p:cNvSpPr>
          <p:nvPr/>
        </p:nvSpPr>
        <p:spPr>
          <a:xfrm>
            <a:off x="390525" y="1381125"/>
            <a:ext cx="11401425" cy="1905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" name="left-panel"/>
          <p:cNvSpPr>
            <a:spLocks noGrp="1"/>
          </p:cNvSpPr>
          <p:nvPr/>
        </p:nvSpPr>
        <p:spPr>
          <a:xfrm>
            <a:off x="390525" y="2371725"/>
            <a:ext cx="3571875" cy="36195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accent-rule"/>
          <p:cNvSpPr>
            <a:spLocks noGrp="1"/>
          </p:cNvSpPr>
          <p:nvPr/>
        </p:nvSpPr>
        <p:spPr>
          <a:xfrm>
            <a:off x="390525" y="2371725"/>
            <a:ext cx="76200" cy="3619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5" name="bullet-1"/>
          <p:cNvSpPr>
            <a:spLocks noGrp="1"/>
          </p:cNvSpPr>
          <p:nvPr/>
        </p:nvSpPr>
        <p:spPr>
          <a:xfrm>
            <a:off x="4486275" y="240030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row-rule-1"/>
          <p:cNvSpPr>
            <a:spLocks noGrp="1"/>
          </p:cNvSpPr>
          <p:nvPr/>
        </p:nvSpPr>
        <p:spPr>
          <a:xfrm>
            <a:off x="4848225" y="3076575"/>
            <a:ext cx="6953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7" name="bullet-2"/>
          <p:cNvSpPr>
            <a:spLocks noGrp="1"/>
          </p:cNvSpPr>
          <p:nvPr/>
        </p:nvSpPr>
        <p:spPr>
          <a:xfrm>
            <a:off x="4486275" y="3390900"/>
            <a:ext cx="190500" cy="190500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  <p:sp>
        <p:nvSpPr>
          <p:cNvPr id="8" name="row-rule-2"/>
          <p:cNvSpPr>
            <a:spLocks noGrp="1"/>
          </p:cNvSpPr>
          <p:nvPr/>
        </p:nvSpPr>
        <p:spPr>
          <a:xfrm>
            <a:off x="4848225" y="4067175"/>
            <a:ext cx="6953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bullet-3"/>
          <p:cNvSpPr>
            <a:spLocks noGrp="1"/>
          </p:cNvSpPr>
          <p:nvPr/>
        </p:nvSpPr>
        <p:spPr>
          <a:xfrm>
            <a:off x="4486275" y="438150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0" name="row-rule-3"/>
          <p:cNvSpPr>
            <a:spLocks noGrp="1"/>
          </p:cNvSpPr>
          <p:nvPr/>
        </p:nvSpPr>
        <p:spPr>
          <a:xfrm>
            <a:off x="4848225" y="5057775"/>
            <a:ext cx="6953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bullet-4"/>
          <p:cNvSpPr>
            <a:spLocks noGrp="1"/>
          </p:cNvSpPr>
          <p:nvPr/>
        </p:nvSpPr>
        <p:spPr>
          <a:xfrm>
            <a:off x="4486275" y="5372100"/>
            <a:ext cx="190500" cy="1905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row-rule-4"/>
          <p:cNvSpPr>
            <a:spLocks noGrp="1"/>
          </p:cNvSpPr>
          <p:nvPr/>
        </p:nvSpPr>
        <p:spPr>
          <a:xfrm>
            <a:off x="4848225" y="6048375"/>
            <a:ext cx="695325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slide-title"/>
          <p:cNvSpPr>
            <a:spLocks noGrp="1"/>
          </p:cNvSpPr>
          <p:nvPr/>
        </p:nvSpPr>
        <p:spPr>
          <a:xfrm>
            <a:off x="390525" y="342900"/>
            <a:ext cx="11401425" cy="9144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buNone/>
              <a:defRPr sz="315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target_logs 契约把模型判断限制在可验证证据内</a:t>
            </a:r>
            <a:endParaRPr sz="315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left-claim"/>
          <p:cNvSpPr>
            <a:spLocks noGrp="1"/>
          </p:cNvSpPr>
          <p:nvPr/>
        </p:nvSpPr>
        <p:spPr>
          <a:xfrm>
            <a:off x="657225" y="2686050"/>
            <a:ext cx="2990850" cy="27622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850"/>
              </a:spcAft>
              <a:buNone/>
              <a:defRPr sz="18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核心约束</a:t>
            </a:r>
            <a:endParaRPr sz="1800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6000"/>
              </a:lnSpc>
              <a:spcAft>
                <a:spcPts val="850"/>
              </a:spcAft>
              <a:buNone/>
              <a:defRPr sz="18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模型不负责选择生命周期、拼接路径或遍历日志。</a:t>
            </a:r>
            <a:endParaRPr sz="1725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16000"/>
              </a:lnSpc>
              <a:spcAft>
                <a:spcPts val="700"/>
              </a:spcAft>
              <a:buNone/>
              <a:defRPr sz="18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6B3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它只基于 target_logs[*].log_path 指向的目标日志做业务判断。</a:t>
            </a:r>
            <a:endParaRPr sz="1800" b="1">
              <a:solidFill>
                <a:srgbClr val="FF6B3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control-label-1"/>
          <p:cNvSpPr>
            <a:spLocks noGrp="1"/>
          </p:cNvSpPr>
          <p:nvPr/>
        </p:nvSpPr>
        <p:spPr>
          <a:xfrm>
            <a:off x="4848225" y="2371725"/>
            <a:ext cx="1866900" cy="647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目标输入</a:t>
            </a:r>
            <a:endParaRPr sz="15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control-body-1"/>
          <p:cNvSpPr>
            <a:spLocks noGrp="1"/>
          </p:cNvSpPr>
          <p:nvPr/>
        </p:nvSpPr>
        <p:spPr>
          <a:xfrm>
            <a:off x="6972300" y="2371725"/>
            <a:ext cx="4829175" cy="723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页面只收集 problem_time、slot、process_name 和可选 pid；module 由所选 diagnose-* skill 固定带入。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control-label-2"/>
          <p:cNvSpPr>
            <a:spLocks noGrp="1"/>
          </p:cNvSpPr>
          <p:nvPr/>
        </p:nvSpPr>
        <p:spPr>
          <a:xfrm>
            <a:off x="4848225" y="3362325"/>
            <a:ext cx="1866900" cy="647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确定性选择</a:t>
            </a:r>
            <a:endParaRPr sz="15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control-body-2"/>
          <p:cNvSpPr>
            <a:spLocks noGrp="1"/>
          </p:cNvSpPr>
          <p:nvPr/>
        </p:nvSpPr>
        <p:spPr>
          <a:xfrm>
            <a:off x="6972300" y="3362325"/>
            <a:ext cx="4829175" cy="723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logparse-diagnose 调用 mech-target-logs，由 CLI 负责生命周期、周期和日志路径选择。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control-label-3"/>
          <p:cNvSpPr>
            <a:spLocks noGrp="1"/>
          </p:cNvSpPr>
          <p:nvPr/>
        </p:nvSpPr>
        <p:spPr>
          <a:xfrm>
            <a:off x="4848225" y="4352925"/>
            <a:ext cx="1866900" cy="647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匹配状态</a:t>
            </a:r>
            <a:endParaRPr sz="15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control-body-3"/>
          <p:cNvSpPr>
            <a:spLocks noGrp="1"/>
          </p:cNvSpPr>
          <p:nvPr/>
        </p:nvSpPr>
        <p:spPr>
          <a:xfrm>
            <a:off x="6972300" y="4352925"/>
            <a:ext cx="4829175" cy="723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exact、nearest、unknown、missing、ambiguous 直接暴露证据强弱；缺失目标不允许被相关日志替代。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control-label-4"/>
          <p:cNvSpPr>
            <a:spLocks noGrp="1"/>
          </p:cNvSpPr>
          <p:nvPr/>
        </p:nvSpPr>
        <p:spPr>
          <a:xfrm>
            <a:off x="4848225" y="5343525"/>
            <a:ext cx="1866900" cy="6477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buNone/>
              <a:defRPr sz="157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失败 DFX</a:t>
            </a:r>
            <a:endParaRPr sz="1575" b="1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control-body-4"/>
          <p:cNvSpPr>
            <a:spLocks noGrp="1"/>
          </p:cNvSpPr>
          <p:nvPr/>
        </p:nvSpPr>
        <p:spPr>
          <a:xfrm>
            <a:off x="6972300" y="5343525"/>
            <a:ext cx="4829175" cy="723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lnSpc>
                <a:spcPct val="116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dfx-output 用于失败、停滞、zip 无效或手动排查，输出 dfx_report.json 与一行 ERROR_CODE: 中文结论。</a:t>
            </a:r>
            <a:endParaRPr sz="1500" b="0">
              <a:solidFill>
                <a:srgbClr val="00000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page-2"/>
          <p:cNvSpPr>
            <a:spLocks noGrp="1"/>
          </p:cNvSpPr>
          <p:nvPr/>
        </p:nvSpPr>
        <p:spPr>
          <a:xfrm>
            <a:off x="11277600" y="6276975"/>
            <a:ext cx="514350" cy="238125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  <a:buNone/>
              <a:defRPr sz="1125">
                <a:solidFill>
                  <a:srgbClr val="00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55555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125" b="0">
              <a:solidFill>
                <a:srgbClr val="55555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Converted Presentation</PresentationFormat>
  <Paragraphs>76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宋体-简</vt:lpstr>
      <vt:lpstr>Calibri</vt:lpstr>
      <vt:lpstr>Helvetica Neue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shenyidong</cp:lastModifiedBy>
  <cp:revision>1</cp:revision>
  <dcterms:created xsi:type="dcterms:W3CDTF">2026-07-08T11:13:57Z</dcterms:created>
  <dcterms:modified xsi:type="dcterms:W3CDTF">2026-07-08T11:13:57Z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92469D8E72056707F5304E6AF6762C1E_42</vt:lpwstr>
  </property>
</Properties>
</file>